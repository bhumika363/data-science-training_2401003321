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6" r:id="rId10"/>
    <p:sldId id="267" r:id="rId11"/>
    <p:sldId id="270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576"/>
    <a:srgbClr val="4BB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C4355-5EAA-4B86-A986-AF2F50C635E0}" v="42" dt="2026-07-06T14:42:16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576" autoAdjust="0"/>
  </p:normalViewPr>
  <p:slideViewPr>
    <p:cSldViewPr snapToGrid="0" snapToObjects="1">
      <p:cViewPr varScale="1">
        <p:scale>
          <a:sx n="116" d="100"/>
          <a:sy n="116" d="100"/>
        </p:scale>
        <p:origin x="67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Risk &amp; Default Intelligence 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Power BI | Chandigarh Engineering College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3931920"/>
            <a:ext cx="8887968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Bhumika  | 2420696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AI &amp; 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Ashima</a:t>
            </a:r>
          </a:p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Kaur</a:t>
            </a:r>
            <a:endParaRPr lang="en-US" sz="10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July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477296"/>
            <a:ext cx="4023360" cy="28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Dashboard Walkthrough</a:t>
            </a:r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DD72AD-16B0-D036-2F37-64AB70B0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9AA5B87-078F-2EE8-FD40-956F960BDA23}"/>
              </a:ext>
            </a:extLst>
          </p:cNvPr>
          <p:cNvSpPr txBox="1"/>
          <p:nvPr/>
        </p:nvSpPr>
        <p:spPr>
          <a:xfrm>
            <a:off x="5257801" y="1956816"/>
            <a:ext cx="2192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dashboard solve?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29128"/>
            <a:ext cx="3657600" cy="1250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000" dirty="0"/>
              <a:t>The credit risk team needs to monitor default rates by loan grade, income band, and purpose to flag high-risk segments. Managing this via raw data is slow and manual, delaying critical tracking. Without a clear view, managers cannot easily spot dangerous trends—like low-income borrowers taking out high-interest business loans. This lack of visibility delays policy updates, risk threshold adjustments, and pricing modifications needed to minimize bank losses.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00" dirty="0"/>
              <a:t>Credit Risk Managers and Portfolio Analysts who need a live, interactive view of default distributions without manually compiling messy Excel sheets each week.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" y="327355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Sourced a raw credit dataset from Kaggle and utilized Python to audit and verify that it was completely free of duplicates, null values, and blank spaces.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" y="390906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761970"/>
            <a:ext cx="3931920" cy="553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Reconstructed compressed logarithmic annual income figures back into true dollar values using mathematical formulas (=EXP) to allow for accurate consumer analysis.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" y="4511111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43159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Built custom business rules to categorize borrowers into distinct </a:t>
            </a:r>
            <a:r>
              <a:rPr lang="en-IN" sz="1000" b="1" dirty="0"/>
              <a:t>Income Bands</a:t>
            </a:r>
            <a:r>
              <a:rPr lang="en-IN" sz="1000" dirty="0"/>
              <a:t> and </a:t>
            </a:r>
            <a:r>
              <a:rPr lang="en-IN" sz="1000" b="1" dirty="0"/>
              <a:t>Loan Grades</a:t>
            </a:r>
            <a:r>
              <a:rPr lang="en-IN" sz="1000" dirty="0"/>
              <a:t> based on their raw FICO credit scores.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44728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414223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89155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Created core DAX metrics (Total Loans, Defaulted Loans, Default Rate) and designed a multi-page interactive dashboard with a dedicated </a:t>
            </a:r>
            <a:r>
              <a:rPr lang="en-IN" sz="1000" b="1" dirty="0"/>
              <a:t>Borrower Profile</a:t>
            </a:r>
            <a:r>
              <a:rPr lang="en-IN" sz="1000" dirty="0"/>
              <a:t> drill-through page to help the risk team instantly flag high-exposure loan segments.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ECB7A9-608B-9332-EAF0-596C18573606}"/>
              </a:ext>
            </a:extLst>
          </p:cNvPr>
          <p:cNvSpPr txBox="1"/>
          <p:nvPr/>
        </p:nvSpPr>
        <p:spPr>
          <a:xfrm>
            <a:off x="5212080" y="3246120"/>
            <a:ext cx="34747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Converted technical database flags (0 and 1) into human-readable business categories (such as changing </a:t>
            </a:r>
            <a:r>
              <a:rPr lang="en-IN" sz="1000" dirty="0" err="1"/>
              <a:t>not.fully.paid</a:t>
            </a:r>
            <a:r>
              <a:rPr lang="en-IN" sz="1000" dirty="0"/>
              <a:t> into "Paid Back" or "Defaulted").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9,579 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63279"/>
              </p:ext>
            </p:extLst>
          </p:nvPr>
        </p:nvGraphicFramePr>
        <p:xfrm>
          <a:off x="274320" y="2677421"/>
          <a:ext cx="4572000" cy="2392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default_status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/>
                        <a:t>Primary target variable tracking "Defaulted" vs "Paid Back"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loan_grade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/>
                        <a:t>Risk tiers segmented using FICO score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4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income_band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>
                          <a:latin typeface="+mn-lt"/>
                        </a:rPr>
                        <a:t>Financial categories derived by reversing log income data</a:t>
                      </a:r>
                    </a:p>
                    <a:p>
                      <a:pPr>
                        <a:buNone/>
                      </a:pPr>
                      <a:endParaRPr lang="en-IN" sz="8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loan_purpose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/>
                        <a:t>Categorical breakdown used to track risk profiles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 err="1">
                          <a:latin typeface="+mn-lt"/>
                        </a:rPr>
                        <a:t>dti_ratio</a:t>
                      </a:r>
                      <a:endParaRPr lang="en-IN" sz="1050" dirty="0">
                        <a:latin typeface="+mn-lt"/>
                      </a:endParaRPr>
                    </a:p>
                    <a:p>
                      <a:pPr>
                        <a:buNone/>
                      </a:pPr>
                      <a:endParaRPr lang="en-IN" sz="8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Performance metric to measure borrower debt burden</a:t>
                      </a:r>
                      <a:endParaRPr lang="en-IN" sz="105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25312" y="241401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Verified data integrity using Python to ensure zero duplicates or nulls.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25312" y="2624326"/>
            <a:ext cx="3017520" cy="667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Converted binary flags (0 and 1) into "Paid Back" and "Defaulted".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25312" y="2898648"/>
            <a:ext cx="3017520" cy="768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Reconstructed true borrower salaries using the Excel =EXP() formula</a:t>
            </a:r>
            <a:r>
              <a:rPr lang="en-IN" sz="1050" dirty="0"/>
              <a:t>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25312" y="3072388"/>
            <a:ext cx="3017520" cy="914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for clarity.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25312" y="3438144"/>
            <a:ext cx="301752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Added </a:t>
            </a:r>
            <a:r>
              <a:rPr lang="en-IN" sz="1000" dirty="0" err="1"/>
              <a:t>annual_income</a:t>
            </a:r>
            <a:r>
              <a:rPr lang="en-IN" sz="1000" dirty="0"/>
              <a:t> (in $) by reversing log data, then utilized nested formulas to construct </a:t>
            </a:r>
            <a:r>
              <a:rPr lang="en-IN" sz="1000" dirty="0" err="1"/>
              <a:t>income_band</a:t>
            </a:r>
            <a:r>
              <a:rPr lang="en-IN" sz="1000" dirty="0"/>
              <a:t> brackets and FICO-based </a:t>
            </a:r>
            <a:r>
              <a:rPr lang="en-IN" sz="1000" dirty="0" err="1"/>
              <a:t>loan_grade</a:t>
            </a:r>
            <a:r>
              <a:rPr lang="en-IN" sz="1000" dirty="0"/>
              <a:t> tiers for deeper risk segmentation.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25312" y="3735325"/>
            <a:ext cx="3017520" cy="1334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Grouped financial tiers using an engineered </a:t>
            </a:r>
            <a:r>
              <a:rPr lang="en-IN" sz="1000" dirty="0" err="1"/>
              <a:t>income_band</a:t>
            </a:r>
            <a:r>
              <a:rPr lang="en-IN" sz="1000" dirty="0"/>
              <a:t> formula.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341AA4F-088B-B00E-1FA6-5C44844AF1CE}"/>
              </a:ext>
            </a:extLst>
          </p:cNvPr>
          <p:cNvSpPr txBox="1"/>
          <p:nvPr/>
        </p:nvSpPr>
        <p:spPr>
          <a:xfrm>
            <a:off x="5907024" y="4581144"/>
            <a:ext cx="2473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Created a </a:t>
            </a:r>
            <a:r>
              <a:rPr lang="en-IN" sz="1000" dirty="0" err="1"/>
              <a:t>loan_grade</a:t>
            </a:r>
            <a:r>
              <a:rPr lang="en-IN" sz="1000" dirty="0"/>
              <a:t> classification scheme based on FICO scores.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98B2B6F9-51DF-B5C7-AD59-2F845C5813D9}"/>
              </a:ext>
            </a:extLst>
          </p:cNvPr>
          <p:cNvSpPr/>
          <p:nvPr/>
        </p:nvSpPr>
        <p:spPr>
          <a:xfrm>
            <a:off x="5669280" y="2524885"/>
            <a:ext cx="164592" cy="1257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C942F8B-BF73-CBAF-63A8-CD332F48D0B1}"/>
              </a:ext>
            </a:extLst>
          </p:cNvPr>
          <p:cNvSpPr/>
          <p:nvPr/>
        </p:nvSpPr>
        <p:spPr>
          <a:xfrm>
            <a:off x="5669280" y="2844925"/>
            <a:ext cx="164592" cy="1257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9C8A2CD5-BFEE-CB2A-D37C-34D16E41FBF5}"/>
              </a:ext>
            </a:extLst>
          </p:cNvPr>
          <p:cNvSpPr/>
          <p:nvPr/>
        </p:nvSpPr>
        <p:spPr>
          <a:xfrm>
            <a:off x="5669280" y="3150108"/>
            <a:ext cx="164592" cy="125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5E9EED8-3844-942B-566E-1D60A8D0BE25}"/>
              </a:ext>
            </a:extLst>
          </p:cNvPr>
          <p:cNvSpPr/>
          <p:nvPr/>
        </p:nvSpPr>
        <p:spPr>
          <a:xfrm>
            <a:off x="5669280" y="3464496"/>
            <a:ext cx="164592" cy="125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A0877DE-808A-EACD-5275-4A3E4FE3D865}"/>
              </a:ext>
            </a:extLst>
          </p:cNvPr>
          <p:cNvSpPr/>
          <p:nvPr/>
        </p:nvSpPr>
        <p:spPr>
          <a:xfrm>
            <a:off x="5669280" y="3666742"/>
            <a:ext cx="164592" cy="125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0D61D3D-25E9-E49A-841C-D7D9CBE606F3}"/>
              </a:ext>
            </a:extLst>
          </p:cNvPr>
          <p:cNvSpPr/>
          <p:nvPr/>
        </p:nvSpPr>
        <p:spPr>
          <a:xfrm>
            <a:off x="5669280" y="4293243"/>
            <a:ext cx="164592" cy="12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DFA3120E-BF6C-B9F9-2EEE-C35918FAED95}"/>
              </a:ext>
            </a:extLst>
          </p:cNvPr>
          <p:cNvSpPr/>
          <p:nvPr/>
        </p:nvSpPr>
        <p:spPr>
          <a:xfrm>
            <a:off x="5678424" y="4660782"/>
            <a:ext cx="164592" cy="12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&amp; relationships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5A36-9CF8-558A-2EA8-AF644088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FDD8BA-C62A-4A56-7557-1CEF4FDA5451}"/>
              </a:ext>
            </a:extLst>
          </p:cNvPr>
          <p:cNvSpPr/>
          <p:nvPr/>
        </p:nvSpPr>
        <p:spPr>
          <a:xfrm>
            <a:off x="0" y="0"/>
            <a:ext cx="9144000" cy="5344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736E3-8006-0A3C-A040-456E8BA9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60542" cy="53447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5E5937-A920-73B9-F610-7C8C22C7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453857"/>
              </p:ext>
            </p:extLst>
          </p:nvPr>
        </p:nvGraphicFramePr>
        <p:xfrm>
          <a:off x="4346620" y="759854"/>
          <a:ext cx="4649274" cy="4217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637">
                  <a:extLst>
                    <a:ext uri="{9D8B030D-6E8A-4147-A177-3AD203B41FA5}">
                      <a16:colId xmlns:a16="http://schemas.microsoft.com/office/drawing/2014/main" val="1486130557"/>
                    </a:ext>
                  </a:extLst>
                </a:gridCol>
                <a:gridCol w="2324637">
                  <a:extLst>
                    <a:ext uri="{9D8B030D-6E8A-4147-A177-3AD203B41FA5}">
                      <a16:colId xmlns:a16="http://schemas.microsoft.com/office/drawing/2014/main" val="684596798"/>
                    </a:ext>
                  </a:extLst>
                </a:gridCol>
              </a:tblGrid>
              <a:tr h="637730">
                <a:tc>
                  <a:txBody>
                    <a:bodyPr/>
                    <a:lstStyle/>
                    <a:p>
                      <a:endParaRPr lang="en-IN" sz="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50954"/>
                  </a:ext>
                </a:extLst>
              </a:tr>
              <a:tr h="956565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loan_data_new</a:t>
                      </a:r>
                      <a:r>
                        <a:rPr lang="en-IN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Contains the core numeric operational metrics and continuous </a:t>
                      </a:r>
                      <a:endParaRPr lang="en-IN" sz="800" dirty="0"/>
                    </a:p>
                    <a:p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features, including </a:t>
                      </a:r>
                      <a:r>
                        <a:rPr lang="en-IN" sz="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interest_rate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</a:t>
                      </a:r>
                      <a:r>
                        <a:rPr lang="en-IN" sz="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installment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dti_ratio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fico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the </a:t>
                      </a:r>
                      <a:endParaRPr lang="en-IN" sz="800" dirty="0"/>
                    </a:p>
                    <a:p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target variables used for custom DAX measures (</a:t>
                      </a:r>
                      <a:r>
                        <a:rPr lang="en-IN" sz="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Loans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Defaulted </a:t>
                      </a:r>
                      <a:endParaRPr lang="en-IN" sz="800" dirty="0"/>
                    </a:p>
                    <a:p>
                      <a:r>
                        <a:rPr lang="en-IN" sz="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Loans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n-IN" sz="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Risk %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IN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93958"/>
                  </a:ext>
                </a:extLst>
              </a:tr>
              <a:tr h="709709">
                <a:tc>
                  <a:txBody>
                    <a:bodyPr/>
                    <a:lstStyle/>
                    <a:p>
                      <a:endParaRPr lang="en-IN" sz="1400" dirty="0"/>
                    </a:p>
                    <a:p>
                      <a:endParaRPr lang="en-IN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loan_purpose</a:t>
                      </a:r>
                      <a:r>
                        <a:rPr lang="en-IN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Dim 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Extracted lookup table containing unique loan purposes (e.g., </a:t>
                      </a:r>
                      <a:endParaRPr lang="en-IN" sz="800" dirty="0"/>
                    </a:p>
                    <a:p>
                      <a:r>
                        <a:rPr lang="en-IN" sz="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small_business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credit_card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debt_consolidation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drive category-specific default </a:t>
                      </a:r>
                      <a:endParaRPr lang="en-IN" sz="800" dirty="0"/>
                    </a:p>
                    <a:p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distributions.</a:t>
                      </a:r>
                      <a:endParaRPr lang="en-IN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60862"/>
                  </a:ext>
                </a:extLst>
              </a:tr>
              <a:tr h="637730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loan_grade</a:t>
                      </a:r>
                      <a:r>
                        <a:rPr lang="en-IN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Dim </a:t>
                      </a:r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Lookup table containing structural credit rating tiers, filtering </a:t>
                      </a:r>
                      <a:endParaRPr lang="en-IN" sz="800" dirty="0"/>
                    </a:p>
                    <a:p>
                      <a:r>
                        <a:rPr lang="en-IN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borrower performance across distinct underwriting qualities.</a:t>
                      </a:r>
                      <a:endParaRPr lang="en-IN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344355"/>
                  </a:ext>
                </a:extLst>
              </a:tr>
              <a:tr h="637730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793081"/>
                  </a:ext>
                </a:extLst>
              </a:tr>
              <a:tr h="637730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222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AE5172-507A-971C-C2D3-B297448AD1F1}"/>
              </a:ext>
            </a:extLst>
          </p:cNvPr>
          <p:cNvSpPr txBox="1"/>
          <p:nvPr/>
        </p:nvSpPr>
        <p:spPr>
          <a:xfrm>
            <a:off x="4346620" y="983341"/>
            <a:ext cx="2157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Schema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FDEA8-A6BA-7CA6-46AC-4B042ABA99A2}"/>
              </a:ext>
            </a:extLst>
          </p:cNvPr>
          <p:cNvSpPr txBox="1"/>
          <p:nvPr/>
        </p:nvSpPr>
        <p:spPr>
          <a:xfrm>
            <a:off x="6774288" y="915716"/>
            <a:ext cx="155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Star</a:t>
            </a:r>
            <a:r>
              <a:rPr lang="en-IN" dirty="0"/>
              <a:t> </a:t>
            </a:r>
            <a:r>
              <a:rPr lang="en-IN" sz="1400" dirty="0"/>
              <a:t>Schema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44A72-C21B-79B3-B040-D385D8E1048F}"/>
              </a:ext>
            </a:extLst>
          </p:cNvPr>
          <p:cNvSpPr txBox="1"/>
          <p:nvPr/>
        </p:nvSpPr>
        <p:spPr>
          <a:xfrm>
            <a:off x="4378818" y="1857027"/>
            <a:ext cx="2466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Fact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3BCAC-E5DD-9390-5222-ACD03B9F820D}"/>
              </a:ext>
            </a:extLst>
          </p:cNvPr>
          <p:cNvSpPr txBox="1"/>
          <p:nvPr/>
        </p:nvSpPr>
        <p:spPr>
          <a:xfrm>
            <a:off x="4372375" y="3226157"/>
            <a:ext cx="2240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Dimension Table 2 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E6C694-9156-3BB8-EC7B-80B62CCB9AA9}"/>
              </a:ext>
            </a:extLst>
          </p:cNvPr>
          <p:cNvSpPr txBox="1"/>
          <p:nvPr/>
        </p:nvSpPr>
        <p:spPr>
          <a:xfrm>
            <a:off x="4378818" y="3839992"/>
            <a:ext cx="229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Dimension Table 3 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7A2452-F2FC-7175-1751-410E34F83F65}"/>
              </a:ext>
            </a:extLst>
          </p:cNvPr>
          <p:cNvSpPr txBox="1"/>
          <p:nvPr/>
        </p:nvSpPr>
        <p:spPr>
          <a:xfrm>
            <a:off x="4378818" y="2576587"/>
            <a:ext cx="2240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Dimension Table 1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423CB-7503-E28F-ADAA-D32064E88A3F}"/>
              </a:ext>
            </a:extLst>
          </p:cNvPr>
          <p:cNvSpPr txBox="1"/>
          <p:nvPr/>
        </p:nvSpPr>
        <p:spPr>
          <a:xfrm>
            <a:off x="4378818" y="4516241"/>
            <a:ext cx="2125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Relationships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49E49-A9D9-17A9-F934-E71F0771A7AE}"/>
              </a:ext>
            </a:extLst>
          </p:cNvPr>
          <p:cNvSpPr txBox="1"/>
          <p:nvPr/>
        </p:nvSpPr>
        <p:spPr>
          <a:xfrm>
            <a:off x="6671257" y="3749377"/>
            <a:ext cx="2292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 err="1"/>
              <a:t>income_band</a:t>
            </a:r>
            <a:r>
              <a:rPr lang="en-IN" sz="800" b="1" dirty="0"/>
              <a:t> Dim </a:t>
            </a:r>
            <a:r>
              <a:rPr lang="en-IN" sz="800" dirty="0"/>
              <a:t>— Segments borrowers into distinct economic demographics </a:t>
            </a:r>
          </a:p>
          <a:p>
            <a:r>
              <a:rPr lang="en-IN" sz="800" dirty="0"/>
              <a:t>(</a:t>
            </a:r>
            <a:r>
              <a:rPr lang="en-IN" sz="800" i="1" dirty="0" err="1"/>
              <a:t>income_band</a:t>
            </a:r>
            <a:r>
              <a:rPr lang="en-IN" sz="800" dirty="0"/>
              <a:t>: Low, Middle, or High Income) to drive consumer affluence charts.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068E1F-5AFB-2C5D-6600-1C7E0B3FC7FE}"/>
              </a:ext>
            </a:extLst>
          </p:cNvPr>
          <p:cNvSpPr txBox="1"/>
          <p:nvPr/>
        </p:nvSpPr>
        <p:spPr>
          <a:xfrm>
            <a:off x="6671257" y="4301913"/>
            <a:ext cx="2640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All independent dimension lookup tables are mapped directly to the central </a:t>
            </a:r>
          </a:p>
          <a:p>
            <a:r>
              <a:rPr lang="en-IN" sz="800" b="1" dirty="0" err="1"/>
              <a:t>loan_data_new</a:t>
            </a:r>
            <a:r>
              <a:rPr lang="en-IN" sz="800" b="1" dirty="0"/>
              <a:t> </a:t>
            </a:r>
            <a:r>
              <a:rPr lang="en-IN" sz="800" dirty="0"/>
              <a:t>fact table using a </a:t>
            </a:r>
            <a:r>
              <a:rPr lang="en-IN" sz="800" b="1" dirty="0"/>
              <a:t>One-to-Many (</a:t>
            </a:r>
            <a:r>
              <a:rPr lang="en-IN" sz="800" dirty="0"/>
              <a:t>1: ∞</a:t>
            </a:r>
            <a:r>
              <a:rPr lang="en-IN" sz="800" b="1" dirty="0"/>
              <a:t>) </a:t>
            </a:r>
            <a:r>
              <a:rPr lang="en-IN" sz="800" dirty="0"/>
              <a:t>relationship with a </a:t>
            </a:r>
          </a:p>
          <a:p>
            <a:r>
              <a:rPr lang="en-IN" sz="800" b="1" dirty="0"/>
              <a:t>Single </a:t>
            </a:r>
            <a:r>
              <a:rPr lang="en-IN" sz="800" dirty="0"/>
              <a:t>cross-filter direction moving from the dimension table to the fact table.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574FD2-FE75-6305-2A0A-BC6C2D943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" y="624625"/>
            <a:ext cx="1648496" cy="20284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C930A64-7235-1EEC-E655-7A0DFF6E0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557" y="624625"/>
            <a:ext cx="1648496" cy="20284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397E75-937B-C333-185D-4DCF11495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457" y="2743200"/>
            <a:ext cx="1742349" cy="223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1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259630"/>
            <a:ext cx="8229600" cy="791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59" y="594360"/>
            <a:ext cx="3001171" cy="57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186141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79" y="647952"/>
            <a:ext cx="2909729" cy="1356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KPI Cards — Portfolio Volume, Charged-Off Accounts, Portfolio Default Risk %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61848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126479" y="1967630"/>
            <a:ext cx="272685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Clustered Bar Chart — Default Probability by Underwriting Grade, Default Probability across Loan Categories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63059" y="199339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79" y="2557606"/>
            <a:ext cx="2560320" cy="1107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Column Chart — Portfolio Health Matrix by Credit Longevity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84859" y="2544393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84859" y="298649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126479" y="1366659"/>
            <a:ext cx="2834640" cy="764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Slicers — Borrower Affluence Segments, Credit Maturity Profile, Credit Risk Tier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59" y="3562560"/>
            <a:ext cx="1263205" cy="486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While the bank's overall default rate is 16.01%, high-risk areas like small business loans spike to 27.79%. This instantly flags the exact high-exposure segments where management needs to tighten credit approval policies to minimize losses.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C2E08D-50F5-6A8A-8109-B3027B6D4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97280"/>
            <a:ext cx="5577840" cy="37033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0714DC-DDD7-10DB-1206-2A1732B5282D}"/>
              </a:ext>
            </a:extLst>
          </p:cNvPr>
          <p:cNvSpPr txBox="1"/>
          <p:nvPr/>
        </p:nvSpPr>
        <p:spPr>
          <a:xfrm>
            <a:off x="6126480" y="2511002"/>
            <a:ext cx="27268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Debt Burden &amp; Pricing Risk Matrix</a:t>
            </a:r>
            <a:endParaRPr lang="en-US" sz="1100" dirty="0"/>
          </a:p>
          <a:p>
            <a:endParaRPr lang="en-IN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BF3BB4-CB6C-8F14-8256-7D74AF5C8371}"/>
              </a:ext>
            </a:extLst>
          </p:cNvPr>
          <p:cNvSpPr txBox="1"/>
          <p:nvPr/>
        </p:nvSpPr>
        <p:spPr>
          <a:xfrm>
            <a:off x="6126478" y="3287123"/>
            <a:ext cx="25603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Loan Distributions Across Earnings Brackets</a:t>
            </a:r>
            <a:endParaRPr lang="en-IN" sz="11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B36A1759-70AC-9DAC-3853-C2DBC49CD8D2}"/>
              </a:ext>
            </a:extLst>
          </p:cNvPr>
          <p:cNvSpPr/>
          <p:nvPr/>
        </p:nvSpPr>
        <p:spPr>
          <a:xfrm>
            <a:off x="5884859" y="336511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0C8889-F740-8F19-5570-31D5C80844E5}"/>
              </a:ext>
            </a:extLst>
          </p:cNvPr>
          <p:cNvSpPr/>
          <p:nvPr/>
        </p:nvSpPr>
        <p:spPr>
          <a:xfrm>
            <a:off x="0" y="0"/>
            <a:ext cx="9144000" cy="52159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88BF5-B98D-E52A-69AA-1BB19330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5"/>
            <a:ext cx="2560542" cy="519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7BBC85-8F3C-C3AA-E1AE-FCF6AD876520}"/>
              </a:ext>
            </a:extLst>
          </p:cNvPr>
          <p:cNvSpPr txBox="1"/>
          <p:nvPr/>
        </p:nvSpPr>
        <p:spPr>
          <a:xfrm>
            <a:off x="276896" y="573110"/>
            <a:ext cx="8512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Page 2: Borrower Profile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16C04-CE4B-F697-24BE-57812669A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66" y="1197735"/>
            <a:ext cx="6207870" cy="3443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37B138-FEF5-DC73-C852-87DFBACE9C9A}"/>
              </a:ext>
            </a:extLst>
          </p:cNvPr>
          <p:cNvSpPr txBox="1"/>
          <p:nvPr/>
        </p:nvSpPr>
        <p:spPr>
          <a:xfrm>
            <a:off x="6503831" y="1197735"/>
            <a:ext cx="238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Visuals on this page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5347F-2DF4-385D-880F-019EEA7AF1A9}"/>
              </a:ext>
            </a:extLst>
          </p:cNvPr>
          <p:cNvSpPr txBox="1"/>
          <p:nvPr/>
        </p:nvSpPr>
        <p:spPr>
          <a:xfrm>
            <a:off x="6922394" y="1474734"/>
            <a:ext cx="209256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100" dirty="0"/>
              <a:t>Detailed Table Visual: A granular, row-level reporting grid containing calculated metrics: Sum of </a:t>
            </a:r>
            <a:r>
              <a:rPr lang="en-IN" sz="1100" dirty="0" err="1"/>
              <a:t>annual_income</a:t>
            </a:r>
            <a:r>
              <a:rPr lang="en-IN" sz="1100" dirty="0"/>
              <a:t>, </a:t>
            </a:r>
            <a:r>
              <a:rPr lang="en-IN" sz="1100" dirty="0" err="1"/>
              <a:t>loan_grade</a:t>
            </a:r>
            <a:r>
              <a:rPr lang="en-IN" sz="1100" dirty="0"/>
              <a:t>, </a:t>
            </a:r>
            <a:r>
              <a:rPr lang="en-IN" sz="1100" dirty="0" err="1"/>
              <a:t>loan_purpose</a:t>
            </a:r>
            <a:r>
              <a:rPr lang="en-IN" sz="1100" dirty="0"/>
              <a:t>, Average of </a:t>
            </a:r>
            <a:r>
              <a:rPr lang="en-IN" sz="1100" dirty="0" err="1"/>
              <a:t>dti_ratio</a:t>
            </a:r>
            <a:r>
              <a:rPr lang="en-IN" sz="1100" dirty="0"/>
              <a:t>, Average of </a:t>
            </a:r>
            <a:r>
              <a:rPr lang="en-IN" sz="1100" dirty="0" err="1"/>
              <a:t>interest_rate</a:t>
            </a:r>
            <a:r>
              <a:rPr lang="en-IN" sz="1100" dirty="0"/>
              <a:t>, and </a:t>
            </a:r>
            <a:r>
              <a:rPr lang="en-IN" sz="1100" dirty="0" err="1"/>
              <a:t>default_status</a:t>
            </a:r>
            <a:r>
              <a:rPr lang="en-IN" sz="1100" dirty="0"/>
              <a:t>.</a:t>
            </a: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8AD4F4BF-FDC8-319C-5085-C1D9B1210EA3}"/>
              </a:ext>
            </a:extLst>
          </p:cNvPr>
          <p:cNvSpPr/>
          <p:nvPr/>
        </p:nvSpPr>
        <p:spPr>
          <a:xfrm>
            <a:off x="6689286" y="161135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6A9CE9-019B-752D-D17B-9B8A7427E81A}"/>
              </a:ext>
            </a:extLst>
          </p:cNvPr>
          <p:cNvSpPr txBox="1"/>
          <p:nvPr/>
        </p:nvSpPr>
        <p:spPr>
          <a:xfrm>
            <a:off x="7057622" y="2919262"/>
            <a:ext cx="1371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5CCB23-A783-12E0-C42D-D07017A703DD}"/>
              </a:ext>
            </a:extLst>
          </p:cNvPr>
          <p:cNvSpPr txBox="1"/>
          <p:nvPr/>
        </p:nvSpPr>
        <p:spPr>
          <a:xfrm>
            <a:off x="6581103" y="3168203"/>
            <a:ext cx="256289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This page acts as an operational ledger, breaking down macro metrics into granular financial records sorted by underwriting grade and intent. It enables risk auditors to investigate specific, high-exposure rows—such as Grade B small business loans with higher average DTI ratios and interest rates—to track exactly which profile segments drive defaults.</a:t>
            </a:r>
          </a:p>
          <a:p>
            <a:pPr lvl="0"/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32914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bank maintains an overall portfolio volume of </a:t>
            </a:r>
            <a:r>
              <a:rPr lang="en-IN" sz="1100" b="1" dirty="0"/>
              <a:t>10K loans</a:t>
            </a:r>
            <a:r>
              <a:rPr lang="en-IN" sz="1100" dirty="0"/>
              <a:t> with a baseline portfolio default risk of </a:t>
            </a:r>
            <a:r>
              <a:rPr lang="en-IN" sz="1100" b="1" dirty="0"/>
              <a:t>16.01%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Small business loans pose the greatest credit threat, showing an exceptionally high default probability of </a:t>
            </a:r>
            <a:r>
              <a:rPr lang="en-IN" sz="1100" b="1" dirty="0"/>
              <a:t>27.79%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Default probability drops significantly by grade; </a:t>
            </a:r>
            <a:r>
              <a:rPr lang="en-IN" sz="1100" b="1" dirty="0"/>
              <a:t>Grade B</a:t>
            </a:r>
            <a:r>
              <a:rPr lang="en-IN" sz="1100" dirty="0"/>
              <a:t> accounts have a </a:t>
            </a:r>
            <a:r>
              <a:rPr lang="en-IN" sz="1100" b="1" dirty="0"/>
              <a:t>17.82%</a:t>
            </a:r>
            <a:r>
              <a:rPr lang="en-IN" sz="1100" dirty="0"/>
              <a:t> default probability, while safer </a:t>
            </a:r>
            <a:r>
              <a:rPr lang="en-IN" sz="1100" b="1" dirty="0"/>
              <a:t>Grade A</a:t>
            </a:r>
            <a:r>
              <a:rPr lang="en-IN" sz="1100" dirty="0"/>
              <a:t> accounts drop sharply to </a:t>
            </a:r>
            <a:r>
              <a:rPr lang="en-IN" sz="1100" b="1" dirty="0"/>
              <a:t>7.43%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Credit cards (</a:t>
            </a:r>
            <a:r>
              <a:rPr lang="en-IN" sz="1100" b="1" dirty="0"/>
              <a:t>11.57%</a:t>
            </a:r>
            <a:r>
              <a:rPr lang="en-IN" sz="1100" dirty="0"/>
              <a:t>) and major purchases (</a:t>
            </a:r>
            <a:r>
              <a:rPr lang="en-IN" sz="1100" b="1" dirty="0"/>
              <a:t>11.21%</a:t>
            </a:r>
            <a:r>
              <a:rPr lang="en-IN" sz="1100" dirty="0"/>
              <a:t>) represent the safest loan purposes with the lowest default probabilities in the portfolio.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donut chart highlights that middle-income segments make up the clear majority of loan distributions, while high-income and low-income categories remain outlier segments.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Successfully built an end-to-end Power BI business intelligence solution from raw Kaggle data to a published interactive dashboard.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Identified that while the baseline portfolio risk is 16.01%, small business loans represent the highest exposure area with a 27.79% default rate.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Engineered high-performance DAX measures for core credit KPIs and used Excel mathematical functions (</a:t>
            </a:r>
            <a:r>
              <a:rPr lang="en-IN" dirty="0">
                <a:solidFill>
                  <a:schemeClr val="bg1"/>
                </a:solidFill>
              </a:rPr>
              <a:t>=EXP</a:t>
            </a:r>
            <a:r>
              <a:rPr lang="en-IN" sz="1400" dirty="0">
                <a:solidFill>
                  <a:schemeClr val="bg1"/>
                </a:solidFill>
              </a:rPr>
              <a:t>) to successfully reverse and normalize logarithmic borrower income data.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Future Scope: Integrate advanced machine learning models (like logistic regression) directly into the pipeline to predict real-time default probabilities for new loan applicants.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14 / 14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1261</Words>
  <Application>Microsoft Office PowerPoint</Application>
  <PresentationFormat>On-screen Show (16:9)</PresentationFormat>
  <Paragraphs>152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Bhumika Vig</cp:lastModifiedBy>
  <cp:revision>7</cp:revision>
  <dcterms:created xsi:type="dcterms:W3CDTF">2026-06-29T04:56:05Z</dcterms:created>
  <dcterms:modified xsi:type="dcterms:W3CDTF">2026-07-06T14:52:31Z</dcterms:modified>
</cp:coreProperties>
</file>