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576"/>
    <a:srgbClr val="4BB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576" autoAdjust="0"/>
  </p:normalViewPr>
  <p:slideViewPr>
    <p:cSldViewPr snapToGrid="0" snapToObjects="1">
      <p:cViewPr varScale="1">
        <p:scale>
          <a:sx n="116" d="100"/>
          <a:sy n="116" d="100"/>
        </p:scale>
        <p:origin x="67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06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Loan Risk &amp; Default Intelligence 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Training — Power BI | Chandigarh Engineering College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3931920"/>
            <a:ext cx="8887968" cy="120700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Bhumika  | 2420696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AI &amp; 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Ashima</a:t>
            </a:r>
          </a:p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 Kaur</a:t>
            </a:r>
            <a:endParaRPr lang="en-US" sz="105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0372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42793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July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0838F5-416C-741A-7A5E-B4AFDD40F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1243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234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947672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95681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660904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26700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66090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to Power BI Service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374136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409651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087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7DD72AD-16B0-D036-2F37-64AB70B0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dashboard solve?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3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87DF-B91F-1FBD-43E8-C76D6CF6E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29128"/>
            <a:ext cx="3657600" cy="1250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000" dirty="0"/>
              <a:t>The credit risk team needs to monitor default rates by loan grade, income band, and purpose to flag high-risk segments. Managing this via raw data is slow and manual, delaying critical tracking. Without a clear view, managers cannot easily spot dangerous trends—like low-income borrowers taking out high-interest business loans. This lack of visibility delays policy updates, risk threshold adjustments, and pricing modifications needed to minimize bank losses.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3931920" cy="54864"/>
          </a:xfrm>
          <a:prstGeom prst="roundRect">
            <a:avLst>
              <a:gd name="adj" fmla="val 133333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091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100" dirty="0"/>
              <a:t>Credit Risk Managers and Portfolio Analysts who need a live, interactive view of default distributions without manually compiling messy Excel sheets each week.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" y="327355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Sourced a raw credit dataset from Kaggle and utilized Python to audit and verify that it was completely free of duplicates, null values, and blank spaces.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" y="390906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761970"/>
            <a:ext cx="3931920" cy="553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Reconstructed compressed logarithmic annual income figures back into true dollar values using mathematical formulas (=EXP) to allow for accurate consumer analysis.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" y="4511111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431596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Built custom business rules to categorize borrowers into distinct </a:t>
            </a:r>
            <a:r>
              <a:rPr lang="en-IN" sz="1000" b="1" dirty="0"/>
              <a:t>Income Bands</a:t>
            </a:r>
            <a:r>
              <a:rPr lang="en-IN" sz="1000" dirty="0"/>
              <a:t> and </a:t>
            </a:r>
            <a:r>
              <a:rPr lang="en-IN" sz="1000" b="1" dirty="0"/>
              <a:t>Loan Grades</a:t>
            </a:r>
            <a:r>
              <a:rPr lang="en-IN" sz="1000" dirty="0"/>
              <a:t> based on their raw FICO credit scores.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344728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2120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414223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89155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Created core DAX metrics (Total Loans, Defaulted Loans, Default Rate) and designed a multi-page interactive dashboard with a dedicated </a:t>
            </a:r>
            <a:r>
              <a:rPr lang="en-IN" sz="1000" b="1" dirty="0"/>
              <a:t>Borrower Profile</a:t>
            </a:r>
            <a:r>
              <a:rPr lang="en-IN" sz="1000" dirty="0"/>
              <a:t> drill-through page to help the risk team instantly flag high-exposure loan segments.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A3035C-FD3F-0215-6CC1-3A12524ED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8ECB7A9-608B-9332-EAF0-596C18573606}"/>
              </a:ext>
            </a:extLst>
          </p:cNvPr>
          <p:cNvSpPr txBox="1"/>
          <p:nvPr/>
        </p:nvSpPr>
        <p:spPr>
          <a:xfrm>
            <a:off x="5212080" y="3246120"/>
            <a:ext cx="34747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Converted technical database flags (0 and 1) into human-readable business categories (such as changing </a:t>
            </a:r>
            <a:r>
              <a:rPr lang="en-IN" sz="1000" dirty="0" err="1"/>
              <a:t>not.fully.paid</a:t>
            </a:r>
            <a:r>
              <a:rPr lang="en-IN" sz="1000" dirty="0"/>
              <a:t> into "Paid Back" or "Defaulted").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Dataset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fields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5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6384FC-062D-4517-C763-32D1FCCD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9,579 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1755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63279"/>
              </p:ext>
            </p:extLst>
          </p:nvPr>
        </p:nvGraphicFramePr>
        <p:xfrm>
          <a:off x="274320" y="2677421"/>
          <a:ext cx="4572000" cy="2392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Dashboard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 err="1"/>
                        <a:t>default_status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/>
                        <a:t>Primary target variable tracking "Defaulted" vs "Paid Back"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 err="1"/>
                        <a:t>loan_grade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/>
                        <a:t>Risk tiers segmented using FICO score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4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 err="1"/>
                        <a:t>income_band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>
                          <a:latin typeface="+mn-lt"/>
                        </a:rPr>
                        <a:t>Financial categories derived by reversing log income data</a:t>
                      </a:r>
                    </a:p>
                    <a:p>
                      <a:pPr>
                        <a:buNone/>
                      </a:pPr>
                      <a:endParaRPr lang="en-IN" sz="8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 err="1"/>
                        <a:t>loan_purpose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50" dirty="0"/>
                        <a:t>Categorical breakdown used to track risk profiles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3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 err="1">
                          <a:latin typeface="+mn-lt"/>
                        </a:rPr>
                        <a:t>dti_ratio</a:t>
                      </a:r>
                      <a:endParaRPr lang="en-IN" sz="1050" dirty="0">
                        <a:latin typeface="+mn-lt"/>
                      </a:endParaRPr>
                    </a:p>
                    <a:p>
                      <a:pPr>
                        <a:buNone/>
                      </a:pPr>
                      <a:endParaRPr lang="en-IN" sz="80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Performance metric to measure borrower debt burden</a:t>
                      </a:r>
                      <a:endParaRPr lang="en-IN" sz="1050" dirty="0"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0" y="2212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Steps (Power Query)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25312" y="241401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Verified data integrity using Python to ensure zero duplicates or nulls.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925312" y="2624326"/>
            <a:ext cx="3017520" cy="667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Converted binary flags (0 and 1) into "Paid Back" and "Defaulted".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925312" y="2898648"/>
            <a:ext cx="3017520" cy="768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Reconstructed true borrower salaries using the Excel =EXP() formula</a:t>
            </a:r>
            <a:r>
              <a:rPr lang="en-IN" sz="1050" dirty="0"/>
              <a:t>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25312" y="3072388"/>
            <a:ext cx="3017520" cy="914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for clarity.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25312" y="3438144"/>
            <a:ext cx="301752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Added </a:t>
            </a:r>
            <a:r>
              <a:rPr lang="en-IN" sz="1000" dirty="0" err="1"/>
              <a:t>annual_income</a:t>
            </a:r>
            <a:r>
              <a:rPr lang="en-IN" sz="1000" dirty="0"/>
              <a:t> (in $) by reversing log data, then utilized nested formulas to construct </a:t>
            </a:r>
            <a:r>
              <a:rPr lang="en-IN" sz="1000" dirty="0" err="1"/>
              <a:t>income_band</a:t>
            </a:r>
            <a:r>
              <a:rPr lang="en-IN" sz="1000" dirty="0"/>
              <a:t> brackets and FICO-based </a:t>
            </a:r>
            <a:r>
              <a:rPr lang="en-IN" sz="1000" dirty="0" err="1"/>
              <a:t>loan_grade</a:t>
            </a:r>
            <a:r>
              <a:rPr lang="en-IN" sz="1000" dirty="0"/>
              <a:t> tiers for deeper risk segmentation.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25312" y="3735325"/>
            <a:ext cx="3017520" cy="1334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00" dirty="0"/>
              <a:t>Grouped financial tiers using an engineered </a:t>
            </a:r>
            <a:r>
              <a:rPr lang="en-IN" sz="1000" dirty="0" err="1"/>
              <a:t>income_band</a:t>
            </a:r>
            <a:r>
              <a:rPr lang="en-IN" sz="1000" dirty="0"/>
              <a:t> formula.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A0E154-453B-D476-1883-C4CB68FF1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341AA4F-088B-B00E-1FA6-5C44844AF1CE}"/>
              </a:ext>
            </a:extLst>
          </p:cNvPr>
          <p:cNvSpPr txBox="1"/>
          <p:nvPr/>
        </p:nvSpPr>
        <p:spPr>
          <a:xfrm>
            <a:off x="5907024" y="4581144"/>
            <a:ext cx="2473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Created a </a:t>
            </a:r>
            <a:r>
              <a:rPr lang="en-IN" sz="1000" dirty="0" err="1"/>
              <a:t>loan_grade</a:t>
            </a:r>
            <a:r>
              <a:rPr lang="en-IN" sz="1000" dirty="0"/>
              <a:t> classification scheme based on FICO scores.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98B2B6F9-51DF-B5C7-AD59-2F845C5813D9}"/>
              </a:ext>
            </a:extLst>
          </p:cNvPr>
          <p:cNvSpPr/>
          <p:nvPr/>
        </p:nvSpPr>
        <p:spPr>
          <a:xfrm>
            <a:off x="5669280" y="2524885"/>
            <a:ext cx="164592" cy="1257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C942F8B-BF73-CBAF-63A8-CD332F48D0B1}"/>
              </a:ext>
            </a:extLst>
          </p:cNvPr>
          <p:cNvSpPr/>
          <p:nvPr/>
        </p:nvSpPr>
        <p:spPr>
          <a:xfrm>
            <a:off x="5669280" y="2844925"/>
            <a:ext cx="164592" cy="1257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9C8A2CD5-BFEE-CB2A-D37C-34D16E41FBF5}"/>
              </a:ext>
            </a:extLst>
          </p:cNvPr>
          <p:cNvSpPr/>
          <p:nvPr/>
        </p:nvSpPr>
        <p:spPr>
          <a:xfrm>
            <a:off x="5669280" y="3150108"/>
            <a:ext cx="164592" cy="125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5E9EED8-3844-942B-566E-1D60A8D0BE25}"/>
              </a:ext>
            </a:extLst>
          </p:cNvPr>
          <p:cNvSpPr/>
          <p:nvPr/>
        </p:nvSpPr>
        <p:spPr>
          <a:xfrm>
            <a:off x="5669280" y="3464496"/>
            <a:ext cx="164592" cy="125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A0877DE-808A-EACD-5275-4A3E4FE3D865}"/>
              </a:ext>
            </a:extLst>
          </p:cNvPr>
          <p:cNvSpPr/>
          <p:nvPr/>
        </p:nvSpPr>
        <p:spPr>
          <a:xfrm>
            <a:off x="5669280" y="3666742"/>
            <a:ext cx="164592" cy="125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0D61D3D-25E9-E49A-841C-D7D9CBE606F3}"/>
              </a:ext>
            </a:extLst>
          </p:cNvPr>
          <p:cNvSpPr/>
          <p:nvPr/>
        </p:nvSpPr>
        <p:spPr>
          <a:xfrm>
            <a:off x="5669280" y="4293243"/>
            <a:ext cx="164592" cy="120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DFA3120E-BF6C-B9F9-2EEE-C35918FAED95}"/>
              </a:ext>
            </a:extLst>
          </p:cNvPr>
          <p:cNvSpPr/>
          <p:nvPr/>
        </p:nvSpPr>
        <p:spPr>
          <a:xfrm>
            <a:off x="5678424" y="4660782"/>
            <a:ext cx="164592" cy="120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Data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 &amp; relationships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7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5A36-9CF8-558A-2EA8-AF644088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164592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Dashboard Walkthrough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visuals, and interactivity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11 / 14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4B3CD-17DD-176E-2F8A-1C4787C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48627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59630"/>
            <a:ext cx="8229600" cy="791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Page 1: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— Overview Page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2159" y="594360"/>
            <a:ext cx="3001171" cy="57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on this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186141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79" y="647952"/>
            <a:ext cx="2909729" cy="13560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KPI Cards — Portfolio Volume, Charged-Off Accounts, Portfolio Default Risk %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1618488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126479" y="1967630"/>
            <a:ext cx="272685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Clustered Bar Chart — Default Probability by Underwriting Grade, Default Probability across Loan Categories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63059" y="1993392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79" y="2557606"/>
            <a:ext cx="2560320" cy="11071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Column Chart — Portfolio Health Matrix by Credit Longevity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84859" y="2544393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84859" y="298649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6126479" y="1366659"/>
            <a:ext cx="2834640" cy="764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Slicers — Borrower Affluence Segments, Credit Maturity Profile, Credit Risk Tier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59" y="3562560"/>
            <a:ext cx="1263205" cy="486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93192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While the bank's overall default rate is 16.01%, high-risk areas like small business loans spike to 27.79%. This instantly flags the exact high-exposure segments where management needs to tighten credit approval policies to minimize losses.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1A76D7-80BD-7F96-BF1D-7563D58A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5C2E08D-50F5-6A8A-8109-B3027B6D4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97280"/>
            <a:ext cx="5577840" cy="37033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0714DC-DDD7-10DB-1206-2A1732B5282D}"/>
              </a:ext>
            </a:extLst>
          </p:cNvPr>
          <p:cNvSpPr txBox="1"/>
          <p:nvPr/>
        </p:nvSpPr>
        <p:spPr>
          <a:xfrm>
            <a:off x="6126480" y="2511002"/>
            <a:ext cx="27268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Debt Burden &amp; Pricing Risk Matrix</a:t>
            </a:r>
            <a:endParaRPr lang="en-US" sz="1100" dirty="0"/>
          </a:p>
          <a:p>
            <a:endParaRPr lang="en-IN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BF3BB4-CB6C-8F14-8256-7D74AF5C8371}"/>
              </a:ext>
            </a:extLst>
          </p:cNvPr>
          <p:cNvSpPr txBox="1"/>
          <p:nvPr/>
        </p:nvSpPr>
        <p:spPr>
          <a:xfrm>
            <a:off x="6126478" y="3287123"/>
            <a:ext cx="25603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Loan Distributions Across Earnings Brackets</a:t>
            </a:r>
            <a:endParaRPr lang="en-IN" sz="110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B36A1759-70AC-9DAC-3853-C2DBC49CD8D2}"/>
              </a:ext>
            </a:extLst>
          </p:cNvPr>
          <p:cNvSpPr/>
          <p:nvPr/>
        </p:nvSpPr>
        <p:spPr>
          <a:xfrm>
            <a:off x="5884859" y="336511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bank maintains an overall portfolio volume of </a:t>
            </a:r>
            <a:r>
              <a:rPr lang="en-IN" sz="1100" b="1" dirty="0"/>
              <a:t>10K loans</a:t>
            </a:r>
            <a:r>
              <a:rPr lang="en-IN" sz="1100" dirty="0"/>
              <a:t> with a baseline portfolio default risk of </a:t>
            </a:r>
            <a:r>
              <a:rPr lang="en-IN" sz="1100" b="1" dirty="0"/>
              <a:t>16.01%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Small business loans pose the greatest credit threat, showing an exceptionally high default probability of </a:t>
            </a:r>
            <a:r>
              <a:rPr lang="en-IN" sz="1100" b="1" dirty="0"/>
              <a:t>27.79%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3776472"/>
            <a:ext cx="411480" cy="4114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575304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Default probability drops significantly by grade; </a:t>
            </a:r>
            <a:r>
              <a:rPr lang="en-IN" sz="1100" b="1" dirty="0"/>
              <a:t>Grade B</a:t>
            </a:r>
            <a:r>
              <a:rPr lang="en-IN" sz="1100" dirty="0"/>
              <a:t> accounts have a </a:t>
            </a:r>
            <a:r>
              <a:rPr lang="en-IN" sz="1100" b="1" dirty="0"/>
              <a:t>17.82%</a:t>
            </a:r>
            <a:r>
              <a:rPr lang="en-IN" sz="1100" dirty="0"/>
              <a:t> default probability, while safer </a:t>
            </a:r>
            <a:r>
              <a:rPr lang="en-IN" sz="1100" b="1" dirty="0"/>
              <a:t>Grade A</a:t>
            </a:r>
            <a:r>
              <a:rPr lang="en-IN" sz="1100" dirty="0"/>
              <a:t> accounts drop sharply to </a:t>
            </a:r>
            <a:r>
              <a:rPr lang="en-IN" sz="1100" b="1" dirty="0"/>
              <a:t>7.43%</a:t>
            </a:r>
            <a:r>
              <a:rPr lang="en-IN" sz="1100" dirty="0"/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74920" y="1435608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1444752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Credit cards (</a:t>
            </a:r>
            <a:r>
              <a:rPr lang="en-IN" sz="1100" b="1" dirty="0"/>
              <a:t>11.57%</a:t>
            </a:r>
            <a:r>
              <a:rPr lang="en-IN" sz="1100" dirty="0"/>
              <a:t>) and major purchases (</a:t>
            </a:r>
            <a:r>
              <a:rPr lang="en-IN" sz="1100" b="1" dirty="0"/>
              <a:t>11.21%</a:t>
            </a:r>
            <a:r>
              <a:rPr lang="en-IN" sz="1100" dirty="0"/>
              <a:t>) represent the safest loan purposes with the lowest default probabilities in the portfolio.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313432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261518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40487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The donut chart highlights that middle-income segments make up the clear majority of loan distributions, while high-income and low-income categories remain outlier segments.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79F977E-F519-1A37-860E-773E9E24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2926080"/>
            <a:ext cx="2286000" cy="2286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Successfully built an end-to-end Power BI business intelligence solution from raw Kaggle data to a published interactive dashboard.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Identified that while the baseline portfolio risk is 16.01%, small business loans represent the highest exposure area with a 27.79% default rate.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04672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Engineered high-performance DAX measures for core credit KPIs and used Excel mathematical functions (</a:t>
            </a:r>
            <a:r>
              <a:rPr lang="en-IN" dirty="0">
                <a:solidFill>
                  <a:schemeClr val="bg1"/>
                </a:solidFill>
              </a:rPr>
              <a:t>=EXP</a:t>
            </a:r>
            <a:r>
              <a:rPr lang="en-IN" sz="1400" dirty="0">
                <a:solidFill>
                  <a:schemeClr val="bg1"/>
                </a:solidFill>
              </a:rPr>
              <a:t>) to successfully reverse and normalize logarithmic borrower income data.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46304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4672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Future Scope: Integrate advanced machine learning models (like logistic regression) directly into the pipeline to predict real-time default probabilities for new loan applicants.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072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C5FD"/>
                </a:solidFill>
              </a:rPr>
              <a:t>14 / 14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0363D-7E8C-4EA8-83E8-389AEA3B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1"/>
            <a:ext cx="2151088" cy="451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967</Words>
  <Application>Microsoft Office PowerPoint</Application>
  <PresentationFormat>On-screen Show (16:9)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Summer Training — Project Presentation</dc:title>
  <dc:subject>PptxGenJS Presentation</dc:subject>
  <dc:creator>PptxGenJS</dc:creator>
  <cp:lastModifiedBy>Bhumika Vig</cp:lastModifiedBy>
  <cp:revision>6</cp:revision>
  <dcterms:created xsi:type="dcterms:W3CDTF">2026-06-29T04:56:05Z</dcterms:created>
  <dcterms:modified xsi:type="dcterms:W3CDTF">2026-07-05T18:23:55Z</dcterms:modified>
</cp:coreProperties>
</file>